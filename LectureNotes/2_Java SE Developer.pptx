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08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72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11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0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87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04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98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40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60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68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0086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477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075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242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658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72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B26ED-A31A-4CEE-8A79-2D755B2DBE15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D818F-0960-47B4-B7C3-C997E7CA23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461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6551C-0366-E1DF-AC28-36B576367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A2896E-E42A-3AA8-001E-BA8475759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426107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課程內容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zh-TW" dirty="0"/>
              <a:t>ORACLE</a:t>
            </a:r>
            <a:r>
              <a:rPr lang="zh-TW" altLang="en-US" dirty="0"/>
              <a:t>原廠教材</a:t>
            </a:r>
            <a:endParaRPr lang="en-US" altLang="zh-TW" dirty="0"/>
          </a:p>
          <a:p>
            <a:pPr marL="342900" indent="-342900"/>
            <a:r>
              <a:rPr lang="zh-TW" altLang="en-US" dirty="0"/>
              <a:t>上課地圖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 descr="畫面剪輯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872" y="2060849"/>
            <a:ext cx="5404366" cy="457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9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如何執行</a:t>
            </a:r>
            <a:r>
              <a:rPr lang="en-US" altLang="zh-TW" dirty="0"/>
              <a:t>java</a:t>
            </a:r>
            <a:r>
              <a:rPr lang="zh-TW" altLang="en-US" dirty="0"/>
              <a:t>應用程式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zh-TW" altLang="en-US" dirty="0"/>
              <a:t>跨平台</a:t>
            </a:r>
            <a:r>
              <a:rPr lang="en-US" altLang="zh-TW" dirty="0"/>
              <a:t>-JRE(java runtime </a:t>
            </a:r>
            <a:r>
              <a:rPr lang="en-US" altLang="zh-TW" dirty="0" err="1"/>
              <a:t>enviroment</a:t>
            </a:r>
            <a:r>
              <a:rPr lang="en-US" altLang="zh-TW" dirty="0"/>
              <a:t>)</a:t>
            </a:r>
          </a:p>
          <a:p>
            <a:pPr marL="342900" indent="-342900"/>
            <a:r>
              <a:rPr lang="zh-TW" altLang="en-US" dirty="0"/>
              <a:t> </a:t>
            </a:r>
            <a:r>
              <a:rPr lang="en-US" altLang="zh-TW" dirty="0"/>
              <a:t>class</a:t>
            </a:r>
            <a:r>
              <a:rPr lang="zh-TW" altLang="en-US" dirty="0"/>
              <a:t>檔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靜態</a:t>
            </a:r>
            <a:r>
              <a:rPr lang="en-US" altLang="zh-TW" dirty="0"/>
              <a:t>class</a:t>
            </a:r>
          </a:p>
          <a:p>
            <a:pPr marL="800100" lvl="1" indent="-342900"/>
            <a:r>
              <a:rPr lang="zh-TW" altLang="en-US" dirty="0"/>
              <a:t>動態</a:t>
            </a:r>
            <a:r>
              <a:rPr lang="en-US" altLang="zh-TW" dirty="0"/>
              <a:t>class</a:t>
            </a:r>
          </a:p>
          <a:p>
            <a:pPr marL="1485900" lvl="2" indent="-342900"/>
            <a:r>
              <a:rPr lang="en-US" altLang="zh-TW" dirty="0"/>
              <a:t>main</a:t>
            </a:r>
            <a:endParaRPr lang="zh-TW" altLang="en-US" dirty="0"/>
          </a:p>
        </p:txBody>
      </p:sp>
      <p:pic>
        <p:nvPicPr>
          <p:cNvPr id="8" name="圖片 7" descr="畫面剪輯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711" y="2955672"/>
            <a:ext cx="5436793" cy="348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物件導向</a:t>
            </a:r>
            <a:br>
              <a:rPr lang="en-US" altLang="zh-TW" dirty="0"/>
            </a:br>
            <a:r>
              <a:rPr lang="en-US" altLang="zh-TW" dirty="0"/>
              <a:t>Object Oriented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32344" cy="3599316"/>
          </a:xfrm>
        </p:spPr>
        <p:txBody>
          <a:bodyPr>
            <a:normAutofit/>
          </a:bodyPr>
          <a:lstStyle/>
          <a:p>
            <a:pPr marL="342900" indent="-342900"/>
            <a:r>
              <a:rPr lang="zh-TW" altLang="en-US" dirty="0"/>
              <a:t>什麼是物件</a:t>
            </a:r>
            <a:r>
              <a:rPr lang="en-US" altLang="zh-TW" dirty="0"/>
              <a:t>object?</a:t>
            </a:r>
          </a:p>
          <a:p>
            <a:pPr marL="342900" indent="-342900"/>
            <a:r>
              <a:rPr lang="zh-TW" altLang="en-US" b="1" dirty="0">
                <a:solidFill>
                  <a:srgbClr val="FFFF00"/>
                </a:solidFill>
              </a:rPr>
              <a:t>與資料庫</a:t>
            </a:r>
            <a:r>
              <a:rPr lang="en-US" altLang="zh-TW" b="1" dirty="0">
                <a:solidFill>
                  <a:srgbClr val="FFFF00"/>
                </a:solidFill>
              </a:rPr>
              <a:t>database</a:t>
            </a:r>
            <a:r>
              <a:rPr lang="zh-TW" altLang="en-US" b="1" dirty="0">
                <a:solidFill>
                  <a:srgbClr val="FFFF00"/>
                </a:solidFill>
              </a:rPr>
              <a:t>有關</a:t>
            </a:r>
            <a:endParaRPr lang="en-US" altLang="zh-TW" b="1" dirty="0">
              <a:solidFill>
                <a:srgbClr val="FFFF00"/>
              </a:solidFill>
            </a:endParaRPr>
          </a:p>
          <a:p>
            <a:pPr marL="342900" indent="-342900"/>
            <a:r>
              <a:rPr lang="en-US" altLang="zh-TW" dirty="0"/>
              <a:t>EX:</a:t>
            </a:r>
          </a:p>
          <a:p>
            <a:pPr marL="342900" indent="-342900"/>
            <a:r>
              <a:rPr lang="en-US" altLang="zh-TW" dirty="0"/>
              <a:t>Object-&gt;</a:t>
            </a:r>
            <a:r>
              <a:rPr lang="zh-TW" altLang="en-US" dirty="0"/>
              <a:t>資料庫儲存的資料</a:t>
            </a:r>
            <a:endParaRPr lang="en-US" altLang="zh-TW" dirty="0"/>
          </a:p>
          <a:p>
            <a:pPr marL="800100" lvl="1" indent="-342900"/>
            <a:r>
              <a:rPr lang="en-US" altLang="zh-TW" dirty="0"/>
              <a:t>Data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ym typeface="Wingdings" pitchFamily="2" charset="2"/>
              </a:rPr>
              <a:t>學生資料</a:t>
            </a:r>
            <a:r>
              <a:rPr lang="en-US" altLang="zh-TW" dirty="0">
                <a:sym typeface="Wingdings" pitchFamily="2" charset="2"/>
              </a:rPr>
              <a:t>,</a:t>
            </a:r>
            <a:r>
              <a:rPr lang="zh-TW" altLang="en-US" dirty="0">
                <a:sym typeface="Wingdings" pitchFamily="2" charset="2"/>
              </a:rPr>
              <a:t>訂單資料</a:t>
            </a:r>
            <a:r>
              <a:rPr lang="en-US" altLang="zh-TW" dirty="0">
                <a:sym typeface="Wingdings" pitchFamily="2" charset="2"/>
              </a:rPr>
              <a:t>,</a:t>
            </a:r>
            <a:r>
              <a:rPr lang="zh-TW" altLang="en-US" dirty="0">
                <a:sym typeface="Wingdings" pitchFamily="2" charset="2"/>
              </a:rPr>
              <a:t>產品資料</a:t>
            </a:r>
            <a:r>
              <a:rPr lang="en-US" altLang="zh-TW" dirty="0">
                <a:sym typeface="Wingdings" pitchFamily="2" charset="2"/>
              </a:rPr>
              <a:t>…..</a:t>
            </a:r>
          </a:p>
          <a:p>
            <a:pPr marL="1485900" lvl="2" indent="-342900"/>
            <a:endParaRPr lang="en-US" altLang="zh-TW" dirty="0">
              <a:sym typeface="Wingdings" pitchFamily="2" charset="2"/>
            </a:endParaRPr>
          </a:p>
          <a:p>
            <a:pPr marL="1485900" lvl="2" indent="-342900"/>
            <a:endParaRPr lang="en-US" altLang="zh-TW" dirty="0"/>
          </a:p>
          <a:p>
            <a:pPr marL="342900" indent="-342900"/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7D8B04-8C8E-3A89-89B7-1D07C63FB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2664" y="2336873"/>
            <a:ext cx="6217920" cy="3599316"/>
          </a:xfrm>
        </p:spPr>
        <p:txBody>
          <a:bodyPr>
            <a:normAutofit/>
          </a:bodyPr>
          <a:lstStyle/>
          <a:p>
            <a:pPr marL="342900" indent="-342900"/>
            <a:r>
              <a:rPr lang="zh-TW" altLang="en-US" b="1" dirty="0">
                <a:solidFill>
                  <a:srgbClr val="FFFF00"/>
                </a:solidFill>
                <a:sym typeface="Wingdings" pitchFamily="2" charset="2"/>
              </a:rPr>
              <a:t>資料庫的建立方式</a:t>
            </a:r>
            <a:endParaRPr lang="en-US" altLang="zh-TW" b="1" dirty="0">
              <a:solidFill>
                <a:srgbClr val="FFFF00"/>
              </a:solidFill>
              <a:sym typeface="Wingdings" pitchFamily="2" charset="2"/>
            </a:endParaRP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資料表</a:t>
            </a:r>
            <a:r>
              <a:rPr lang="en-US" altLang="zh-TW" dirty="0">
                <a:sym typeface="Wingdings" pitchFamily="2" charset="2"/>
              </a:rPr>
              <a:t>-&gt;</a:t>
            </a:r>
            <a:r>
              <a:rPr lang="zh-TW" altLang="en-US" dirty="0">
                <a:solidFill>
                  <a:srgbClr val="FF0000"/>
                </a:solidFill>
                <a:sym typeface="Wingdings" pitchFamily="2" charset="2"/>
              </a:rPr>
              <a:t>設計</a:t>
            </a:r>
            <a:r>
              <a:rPr lang="en-US" altLang="zh-TW" dirty="0">
                <a:sym typeface="Wingdings" pitchFamily="2" charset="2"/>
              </a:rPr>
              <a:t>(</a:t>
            </a:r>
            <a:r>
              <a:rPr lang="zh-TW" altLang="en-US" dirty="0">
                <a:sym typeface="Wingdings" pitchFamily="2" charset="2"/>
              </a:rPr>
              <a:t>欄位標題</a:t>
            </a:r>
            <a:r>
              <a:rPr lang="en-US" altLang="zh-TW" dirty="0">
                <a:sym typeface="Wingdings" pitchFamily="2" charset="2"/>
              </a:rPr>
              <a:t>,</a:t>
            </a:r>
            <a:r>
              <a:rPr lang="zh-TW" altLang="en-US" dirty="0">
                <a:sym typeface="Wingdings" pitchFamily="2" charset="2"/>
              </a:rPr>
              <a:t>資料類型</a:t>
            </a:r>
            <a:r>
              <a:rPr lang="en-US" altLang="zh-TW" dirty="0">
                <a:sym typeface="Wingdings" pitchFamily="2" charset="2"/>
              </a:rPr>
              <a:t>),</a:t>
            </a:r>
            <a:r>
              <a:rPr lang="zh-TW" altLang="en-US" b="1" dirty="0">
                <a:solidFill>
                  <a:srgbClr val="FFFF00"/>
                </a:solidFill>
                <a:sym typeface="Wingdings" pitchFamily="2" charset="2"/>
              </a:rPr>
              <a:t>新增資料</a:t>
            </a:r>
            <a:endParaRPr lang="en-US" altLang="zh-TW" b="1" dirty="0">
              <a:solidFill>
                <a:srgbClr val="FFFF00"/>
              </a:solidFill>
              <a:sym typeface="Wingdings" pitchFamily="2" charset="2"/>
            </a:endParaRPr>
          </a:p>
          <a:p>
            <a:pPr marL="1485900" lvl="2" indent="-342900"/>
            <a:r>
              <a:rPr lang="zh-TW" altLang="en-US" dirty="0">
                <a:sym typeface="Wingdings" pitchFamily="2" charset="2"/>
              </a:rPr>
              <a:t>先分析要儲存的每一筆資料細目</a:t>
            </a:r>
            <a:endParaRPr lang="en-US" altLang="zh-TW" dirty="0">
              <a:sym typeface="Wingdings" pitchFamily="2" charset="2"/>
            </a:endParaRPr>
          </a:p>
          <a:p>
            <a:pPr marL="1943100" lvl="3" indent="-342900"/>
            <a:r>
              <a:rPr lang="en-US" altLang="zh-TW" dirty="0">
                <a:sym typeface="Wingdings" pitchFamily="2" charset="2"/>
              </a:rPr>
              <a:t>Attribute</a:t>
            </a:r>
            <a:r>
              <a:rPr lang="zh-TW" altLang="en-US" dirty="0">
                <a:sym typeface="Wingdings" pitchFamily="2" charset="2"/>
              </a:rPr>
              <a:t>屬性</a:t>
            </a:r>
            <a:r>
              <a:rPr lang="en-US" altLang="zh-TW" dirty="0">
                <a:sym typeface="Wingdings" pitchFamily="2" charset="2"/>
              </a:rPr>
              <a:t>(</a:t>
            </a:r>
            <a:r>
              <a:rPr lang="en-US" altLang="zh-TW" dirty="0" err="1">
                <a:sym typeface="Wingdings" pitchFamily="2" charset="2"/>
              </a:rPr>
              <a:t>fileld</a:t>
            </a:r>
            <a:r>
              <a:rPr lang="zh-TW" altLang="en-US" dirty="0">
                <a:sym typeface="Wingdings" pitchFamily="2" charset="2"/>
              </a:rPr>
              <a:t>欄位</a:t>
            </a:r>
            <a:r>
              <a:rPr lang="en-US" altLang="zh-TW" dirty="0">
                <a:sym typeface="Wingdings" pitchFamily="2" charset="2"/>
              </a:rPr>
              <a:t>,datatype)</a:t>
            </a:r>
          </a:p>
          <a:p>
            <a:pPr marL="1485900" lvl="2" indent="-342900"/>
            <a:r>
              <a:rPr lang="zh-TW" altLang="en-US" dirty="0">
                <a:sym typeface="Wingdings" pitchFamily="2" charset="2"/>
              </a:rPr>
              <a:t>再根據此規則將每一筆資料建檔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ym typeface="Wingdings" pitchFamily="2" charset="2"/>
              </a:rPr>
              <a:t>同一張表</a:t>
            </a:r>
            <a:endParaRPr lang="en-US" altLang="zh-TW" dirty="0">
              <a:sym typeface="Wingdings" pitchFamily="2" charset="2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857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zh-TW" altLang="en-US" dirty="0"/>
              <a:t>學員成績單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zh-TW" altLang="en-US" dirty="0"/>
              <a:t>手工資料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分析每人要填的資料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將所有人整理在同一張</a:t>
            </a:r>
            <a:endParaRPr lang="en-US" altLang="zh-TW" dirty="0"/>
          </a:p>
          <a:p>
            <a:pPr marL="342900" indent="-342900"/>
            <a:r>
              <a:rPr lang="zh-TW" altLang="en-US" dirty="0"/>
              <a:t>使用資料庫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設計定義資料表</a:t>
            </a:r>
            <a:r>
              <a:rPr lang="en-US" altLang="zh-TW" dirty="0"/>
              <a:t>(</a:t>
            </a:r>
            <a:r>
              <a:rPr lang="zh-TW" altLang="en-US" dirty="0"/>
              <a:t>欄位</a:t>
            </a:r>
            <a:r>
              <a:rPr lang="en-US" altLang="zh-TW" dirty="0"/>
              <a:t>+</a:t>
            </a:r>
            <a:r>
              <a:rPr lang="zh-TW" altLang="en-US" dirty="0"/>
              <a:t>類型</a:t>
            </a:r>
            <a:r>
              <a:rPr lang="en-US" altLang="zh-TW" dirty="0"/>
              <a:t>)</a:t>
            </a:r>
          </a:p>
          <a:p>
            <a:pPr marL="800100" lvl="1" indent="-342900"/>
            <a:r>
              <a:rPr lang="zh-TW" altLang="en-US" dirty="0"/>
              <a:t>新增每一筆資料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672064" y="2148622"/>
          <a:ext cx="3024336" cy="2088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058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學員成績單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zh-TW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allen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zh-TW" altLang="en-US" dirty="0"/>
                        <a:t>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zh-TW" altLang="en-US" dirty="0"/>
                        <a:t>英文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67609" y="4581128"/>
          <a:ext cx="7200801" cy="172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英文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Allen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67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物件導向應用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indent="-342900"/>
            <a:r>
              <a:rPr lang="zh-TW" altLang="en-US" dirty="0"/>
              <a:t>靜態</a:t>
            </a:r>
            <a:r>
              <a:rPr lang="en-US" altLang="zh-TW" dirty="0"/>
              <a:t>class</a:t>
            </a:r>
          </a:p>
          <a:p>
            <a:pPr marL="800100" lvl="1" indent="-342900"/>
            <a:r>
              <a:rPr lang="zh-TW" altLang="en-US" dirty="0"/>
              <a:t>不能執行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ym typeface="Wingdings" pitchFamily="2" charset="2"/>
              </a:rPr>
              <a:t>沒有 </a:t>
            </a:r>
            <a:r>
              <a:rPr lang="en-US" altLang="zh-TW" dirty="0">
                <a:sym typeface="Wingdings" pitchFamily="2" charset="2"/>
              </a:rPr>
              <a:t>public static void main(String </a:t>
            </a:r>
            <a:r>
              <a:rPr lang="en-US" altLang="zh-TW" dirty="0" err="1">
                <a:sym typeface="Wingdings" pitchFamily="2" charset="2"/>
              </a:rPr>
              <a:t>args</a:t>
            </a:r>
            <a:r>
              <a:rPr lang="en-US" altLang="zh-TW" dirty="0">
                <a:sym typeface="Wingdings" pitchFamily="2" charset="2"/>
              </a:rPr>
              <a:t>[])</a:t>
            </a: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主要為定義同一張表每一筆資料物件的</a:t>
            </a:r>
            <a:r>
              <a:rPr lang="en-US" altLang="zh-TW" dirty="0">
                <a:sym typeface="Wingdings" pitchFamily="2" charset="2"/>
              </a:rPr>
              <a:t>attribute</a:t>
            </a:r>
          </a:p>
          <a:p>
            <a:pPr marL="1485900" lvl="2" indent="-342900"/>
            <a:r>
              <a:rPr lang="en-US" altLang="zh-TW" dirty="0">
                <a:sym typeface="Wingdings" pitchFamily="2" charset="2"/>
              </a:rPr>
              <a:t>field</a:t>
            </a:r>
            <a:r>
              <a:rPr lang="zh-TW" altLang="en-US" dirty="0">
                <a:sym typeface="Wingdings" pitchFamily="2" charset="2"/>
              </a:rPr>
              <a:t>欄位</a:t>
            </a:r>
            <a:r>
              <a:rPr lang="en-US" altLang="zh-TW" dirty="0">
                <a:sym typeface="Wingdings" pitchFamily="2" charset="2"/>
              </a:rPr>
              <a:t>,</a:t>
            </a:r>
            <a:r>
              <a:rPr lang="en-US" altLang="zh-TW" dirty="0" err="1">
                <a:sym typeface="Wingdings" pitchFamily="2" charset="2"/>
              </a:rPr>
              <a:t>datatype</a:t>
            </a:r>
            <a:endParaRPr lang="en-US" altLang="zh-TW" dirty="0">
              <a:sym typeface="Wingdings" pitchFamily="2" charset="2"/>
            </a:endParaRPr>
          </a:p>
          <a:p>
            <a:pPr marL="1485900" lvl="2" indent="-342900"/>
            <a:r>
              <a:rPr lang="zh-TW" altLang="en-US" dirty="0">
                <a:sym typeface="Wingdings" pitchFamily="2" charset="2"/>
              </a:rPr>
              <a:t>欄位標題</a:t>
            </a:r>
            <a:endParaRPr lang="en-US" altLang="zh-TW" dirty="0">
              <a:sym typeface="Wingdings" pitchFamily="2" charset="2"/>
            </a:endParaRPr>
          </a:p>
          <a:p>
            <a:pPr marL="342900" indent="-342900"/>
            <a:r>
              <a:rPr lang="zh-TW" altLang="en-US" dirty="0">
                <a:sym typeface="Wingdings" pitchFamily="2" charset="2"/>
              </a:rPr>
              <a:t>動態</a:t>
            </a:r>
            <a:r>
              <a:rPr lang="en-US" altLang="zh-TW" dirty="0">
                <a:sym typeface="Wingdings" pitchFamily="2" charset="2"/>
              </a:rPr>
              <a:t>class</a:t>
            </a: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可以執行</a:t>
            </a:r>
            <a:r>
              <a:rPr lang="en-US" altLang="zh-TW" dirty="0">
                <a:sym typeface="Wingdings" pitchFamily="2" charset="2"/>
              </a:rPr>
              <a:t>-&gt;</a:t>
            </a:r>
            <a:r>
              <a:rPr lang="zh-TW" altLang="en-US" dirty="0">
                <a:sym typeface="Wingdings" pitchFamily="2" charset="2"/>
              </a:rPr>
              <a:t>有</a:t>
            </a:r>
            <a:r>
              <a:rPr lang="en-US" altLang="zh-TW" dirty="0">
                <a:sym typeface="Wingdings" pitchFamily="2" charset="2"/>
              </a:rPr>
              <a:t>public static void main(String </a:t>
            </a:r>
            <a:r>
              <a:rPr lang="en-US" altLang="zh-TW" dirty="0" err="1">
                <a:sym typeface="Wingdings" pitchFamily="2" charset="2"/>
              </a:rPr>
              <a:t>args</a:t>
            </a:r>
            <a:r>
              <a:rPr lang="en-US" altLang="zh-TW" dirty="0">
                <a:sym typeface="Wingdings" pitchFamily="2" charset="2"/>
              </a:rPr>
              <a:t>[])</a:t>
            </a: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能執行即可新增物件資料</a:t>
            </a:r>
            <a:endParaRPr lang="en-US" altLang="zh-TW" dirty="0">
              <a:sym typeface="Wingdings" pitchFamily="2" charset="2"/>
            </a:endParaRPr>
          </a:p>
          <a:p>
            <a:pPr marL="800100" lvl="1" indent="-342900"/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7B07C5B6-750E-EC4B-F304-A3A8EA5BF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2" y="2336873"/>
            <a:ext cx="6192493" cy="3599316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zh-TW" altLang="en-US" dirty="0">
                <a:sym typeface="Wingdings" pitchFamily="2" charset="2"/>
              </a:rPr>
              <a:t>新增物件語法</a:t>
            </a:r>
            <a:r>
              <a:rPr lang="en-US" altLang="zh-TW" dirty="0">
                <a:sym typeface="Wingdings" pitchFamily="2" charset="2"/>
              </a:rPr>
              <a:t>new</a:t>
            </a:r>
          </a:p>
          <a:p>
            <a:pPr marL="800100" lvl="1" indent="-342900"/>
            <a:r>
              <a:rPr lang="zh-TW" altLang="en-US" b="1" dirty="0">
                <a:solidFill>
                  <a:srgbClr val="002060"/>
                </a:solidFill>
                <a:sym typeface="Wingdings" pitchFamily="2" charset="2"/>
              </a:rPr>
              <a:t>類別名   物件名稱</a:t>
            </a:r>
            <a:r>
              <a:rPr lang="en-US" altLang="zh-TW" dirty="0">
                <a:sym typeface="Wingdings" pitchFamily="2" charset="2"/>
              </a:rPr>
              <a:t>=</a:t>
            </a:r>
            <a:r>
              <a:rPr lang="en-US" altLang="zh-TW" dirty="0">
                <a:solidFill>
                  <a:srgbClr val="FFFF00"/>
                </a:solidFill>
                <a:sym typeface="Wingdings" pitchFamily="2" charset="2"/>
              </a:rPr>
              <a:t>new</a:t>
            </a:r>
            <a:r>
              <a:rPr lang="en-US" altLang="zh-TW" dirty="0">
                <a:sym typeface="Wingdings" pitchFamily="2" charset="2"/>
              </a:rPr>
              <a:t> </a:t>
            </a:r>
            <a:r>
              <a:rPr lang="zh-TW" altLang="en-US" b="1" dirty="0">
                <a:solidFill>
                  <a:srgbClr val="002060"/>
                </a:solidFill>
                <a:sym typeface="Wingdings" pitchFamily="2" charset="2"/>
              </a:rPr>
              <a:t>類別名</a:t>
            </a:r>
            <a:r>
              <a:rPr lang="en-US" altLang="zh-TW" b="1" dirty="0">
                <a:solidFill>
                  <a:srgbClr val="002060"/>
                </a:solidFill>
                <a:sym typeface="Wingdings" pitchFamily="2" charset="2"/>
              </a:rPr>
              <a:t>([</a:t>
            </a:r>
            <a:r>
              <a:rPr lang="zh-TW" altLang="en-US" b="1" dirty="0">
                <a:solidFill>
                  <a:srgbClr val="002060"/>
                </a:solidFill>
                <a:sym typeface="Wingdings" pitchFamily="2" charset="2"/>
              </a:rPr>
              <a:t>引數值</a:t>
            </a:r>
            <a:r>
              <a:rPr lang="en-US" altLang="zh-TW" b="1" dirty="0">
                <a:solidFill>
                  <a:srgbClr val="002060"/>
                </a:solidFill>
                <a:sym typeface="Wingdings" pitchFamily="2" charset="2"/>
              </a:rPr>
              <a:t>]);</a:t>
            </a:r>
          </a:p>
          <a:p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6478304" y="3108960"/>
            <a:ext cx="1944216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6478304" y="318642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這只是宣告物件</a:t>
            </a:r>
          </a:p>
        </p:txBody>
      </p:sp>
      <p:sp>
        <p:nvSpPr>
          <p:cNvPr id="7" name="矩形 6"/>
          <p:cNvSpPr/>
          <p:nvPr/>
        </p:nvSpPr>
        <p:spPr>
          <a:xfrm>
            <a:off x="8504081" y="2587620"/>
            <a:ext cx="2736304" cy="4608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504081" y="3169579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這才是物件出現</a:t>
            </a:r>
            <a:r>
              <a:rPr lang="en-US" altLang="zh-TW" dirty="0"/>
              <a:t>(</a:t>
            </a:r>
            <a:r>
              <a:rPr lang="zh-TW" altLang="en-US" dirty="0"/>
              <a:t>實體化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203984" y="4439040"/>
            <a:ext cx="5492087" cy="95410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“=“ </a:t>
            </a:r>
            <a:r>
              <a:rPr lang="zh-TW" altLang="en-US" sz="2800" b="1" dirty="0">
                <a:solidFill>
                  <a:srgbClr val="FF0000"/>
                </a:solidFill>
              </a:rPr>
              <a:t>號左右兩邊的類別名</a:t>
            </a:r>
            <a:r>
              <a:rPr lang="en-US" altLang="zh-TW" sz="2800" b="1" dirty="0">
                <a:solidFill>
                  <a:srgbClr val="FF0000"/>
                </a:solidFill>
              </a:rPr>
              <a:t>(class)</a:t>
            </a:r>
          </a:p>
          <a:p>
            <a:r>
              <a:rPr lang="zh-TW" altLang="en-US" sz="2800" b="1" dirty="0">
                <a:solidFill>
                  <a:srgbClr val="FF0000"/>
                </a:solidFill>
              </a:rPr>
              <a:t>要一樣或有關係才可以</a:t>
            </a:r>
          </a:p>
        </p:txBody>
      </p:sp>
    </p:spTree>
    <p:extLst>
      <p:ext uri="{BB962C8B-B14F-4D97-AF65-F5344CB8AC3E}">
        <p14:creationId xmlns:p14="http://schemas.microsoft.com/office/powerpoint/2010/main" val="339957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new</a:t>
            </a:r>
            <a:r>
              <a:rPr lang="zh-TW" altLang="en-US" cap="none" dirty="0"/>
              <a:t>執行的步驟過程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0321" y="2400272"/>
            <a:ext cx="6887389" cy="3599316"/>
          </a:xfrm>
        </p:spPr>
        <p:txBody>
          <a:bodyPr/>
          <a:lstStyle/>
          <a:p>
            <a:pPr marL="342900" indent="-342900"/>
            <a:r>
              <a:rPr lang="en-US" altLang="zh-TW" dirty="0"/>
              <a:t>stack-&gt;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342900" indent="-342900"/>
            <a:r>
              <a:rPr lang="en-US" altLang="zh-TW" dirty="0"/>
              <a:t>heap-&gt;</a:t>
            </a:r>
            <a:r>
              <a:rPr lang="zh-TW" altLang="en-US" dirty="0"/>
              <a:t>存放每一筆物件的屬性內容</a:t>
            </a:r>
            <a:endParaRPr lang="en-US" altLang="zh-TW" dirty="0"/>
          </a:p>
          <a:p>
            <a:pPr marL="342900" indent="-342900"/>
            <a:r>
              <a:rPr lang="zh-TW" altLang="en-US" dirty="0">
                <a:solidFill>
                  <a:srgbClr val="FFFF00"/>
                </a:solidFill>
              </a:rPr>
              <a:t>初始值</a:t>
            </a:r>
            <a:endParaRPr lang="en-US" altLang="zh-TW" dirty="0">
              <a:solidFill>
                <a:srgbClr val="FFFF00"/>
              </a:solidFill>
            </a:endParaRPr>
          </a:p>
          <a:p>
            <a:pPr marL="800100" lvl="1" indent="-342900"/>
            <a:r>
              <a:rPr lang="zh-TW" altLang="en-US" dirty="0">
                <a:solidFill>
                  <a:srgbClr val="FFFF00"/>
                </a:solidFill>
              </a:rPr>
              <a:t>整數</a:t>
            </a:r>
            <a:r>
              <a:rPr lang="en-US" altLang="zh-TW" dirty="0">
                <a:solidFill>
                  <a:srgbClr val="FFFF00"/>
                </a:solidFill>
              </a:rPr>
              <a:t>:0</a:t>
            </a:r>
          </a:p>
          <a:p>
            <a:pPr marL="800100" lvl="1" indent="-342900"/>
            <a:r>
              <a:rPr lang="zh-TW" altLang="en-US" dirty="0">
                <a:solidFill>
                  <a:srgbClr val="FFFF00"/>
                </a:solidFill>
              </a:rPr>
              <a:t>浮點數</a:t>
            </a:r>
            <a:r>
              <a:rPr lang="en-US" altLang="zh-TW" dirty="0">
                <a:solidFill>
                  <a:srgbClr val="FFFF00"/>
                </a:solidFill>
              </a:rPr>
              <a:t>:0.0</a:t>
            </a:r>
          </a:p>
          <a:p>
            <a:pPr marL="800100" lvl="1" indent="-342900"/>
            <a:r>
              <a:rPr lang="zh-TW" altLang="en-US" dirty="0">
                <a:solidFill>
                  <a:srgbClr val="FFFF00"/>
                </a:solidFill>
              </a:rPr>
              <a:t>布林</a:t>
            </a:r>
            <a:r>
              <a:rPr lang="en-US" altLang="zh-TW" dirty="0">
                <a:solidFill>
                  <a:srgbClr val="FFFF00"/>
                </a:solidFill>
              </a:rPr>
              <a:t>:false</a:t>
            </a:r>
          </a:p>
          <a:p>
            <a:pPr marL="800100" lvl="1" indent="-342900"/>
            <a:r>
              <a:rPr lang="en-US" altLang="zh-TW" dirty="0" err="1">
                <a:solidFill>
                  <a:srgbClr val="FFFF00"/>
                </a:solidFill>
              </a:rPr>
              <a:t>String:null</a:t>
            </a:r>
            <a:r>
              <a:rPr lang="en-US" altLang="zh-TW" dirty="0">
                <a:solidFill>
                  <a:srgbClr val="FFFF00"/>
                </a:solidFill>
                <a:sym typeface="Wingdings" pitchFamily="2" charset="2"/>
              </a:rPr>
              <a:t></a:t>
            </a:r>
            <a:r>
              <a:rPr lang="zh-TW" altLang="en-US" dirty="0">
                <a:solidFill>
                  <a:srgbClr val="FFFF00"/>
                </a:solidFill>
                <a:sym typeface="Wingdings" pitchFamily="2" charset="2"/>
              </a:rPr>
              <a:t>不是空字串</a:t>
            </a:r>
            <a:r>
              <a:rPr lang="en-US" altLang="zh-TW" dirty="0">
                <a:solidFill>
                  <a:srgbClr val="FFFF00"/>
                </a:solidFill>
                <a:sym typeface="Wingdings" pitchFamily="2" charset="2"/>
              </a:rPr>
              <a:t>,</a:t>
            </a:r>
            <a:r>
              <a:rPr lang="zh-TW" altLang="en-US" dirty="0">
                <a:solidFill>
                  <a:srgbClr val="FFFF00"/>
                </a:solidFill>
                <a:sym typeface="Wingdings" pitchFamily="2" charset="2"/>
              </a:rPr>
              <a:t>為空值</a:t>
            </a:r>
            <a:endParaRPr lang="en-US" altLang="zh-TW" dirty="0">
              <a:solidFill>
                <a:srgbClr val="FFFF00"/>
              </a:solidFill>
              <a:sym typeface="Wingdings" pitchFamily="2" charset="2"/>
            </a:endParaRPr>
          </a:p>
          <a:p>
            <a:pPr marL="342900" indent="-342900"/>
            <a:r>
              <a:rPr lang="zh-TW" altLang="en-US" dirty="0">
                <a:sym typeface="Wingdings" pitchFamily="2" charset="2"/>
              </a:rPr>
              <a:t>如果發現有設計</a:t>
            </a:r>
            <a:r>
              <a:rPr lang="zh-TW" altLang="en-US" dirty="0">
                <a:solidFill>
                  <a:srgbClr val="FFFF00"/>
                </a:solidFill>
                <a:sym typeface="Wingdings" pitchFamily="2" charset="2"/>
              </a:rPr>
              <a:t>建構式</a:t>
            </a:r>
            <a:r>
              <a:rPr lang="en-US" altLang="zh-TW" dirty="0">
                <a:solidFill>
                  <a:srgbClr val="FFFF00"/>
                </a:solidFill>
                <a:sym typeface="Wingdings" pitchFamily="2" charset="2"/>
              </a:rPr>
              <a:t>(constructors)</a:t>
            </a:r>
            <a:r>
              <a:rPr lang="zh-TW" altLang="en-US" dirty="0">
                <a:sym typeface="Wingdings" pitchFamily="2" charset="2"/>
              </a:rPr>
              <a:t>一定會執行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07306"/>
              </p:ext>
            </p:extLst>
          </p:nvPr>
        </p:nvGraphicFramePr>
        <p:xfrm>
          <a:off x="7147024" y="3573756"/>
          <a:ext cx="4050415" cy="1183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278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name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chi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eng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XXXX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XXXX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085221" y="31202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stack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835273" y="309957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heap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024430" y="3286124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student@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310050" y="364331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10050" y="328612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S2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024430" y="3714752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student@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310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19536" y="404664"/>
            <a:ext cx="6707088" cy="1371600"/>
          </a:xfrm>
        </p:spPr>
        <p:txBody>
          <a:bodyPr/>
          <a:lstStyle/>
          <a:p>
            <a:r>
              <a:rPr lang="en-US" altLang="zh-TW" dirty="0"/>
              <a:t>Constructors</a:t>
            </a:r>
            <a:r>
              <a:rPr lang="zh-TW" altLang="en-US" dirty="0"/>
              <a:t>建構式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zh-TW" dirty="0"/>
              <a:t>New</a:t>
            </a:r>
            <a:r>
              <a:rPr lang="zh-TW" altLang="en-US" dirty="0"/>
              <a:t>新增物件時最後執行的步驟，一定會</a:t>
            </a:r>
            <a:r>
              <a:rPr lang="en-US" altLang="zh-TW" dirty="0"/>
              <a:t>(</a:t>
            </a:r>
            <a:r>
              <a:rPr lang="zh-TW" altLang="en-US" dirty="0"/>
              <a:t>要</a:t>
            </a:r>
            <a:r>
              <a:rPr lang="en-US" altLang="zh-TW" dirty="0"/>
              <a:t>)</a:t>
            </a:r>
            <a:r>
              <a:rPr lang="zh-TW" altLang="en-US" dirty="0"/>
              <a:t>做</a:t>
            </a:r>
            <a:endParaRPr lang="en-US" altLang="zh-TW" dirty="0"/>
          </a:p>
          <a:p>
            <a:pPr marL="342900" indent="-342900"/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lvl="1" indent="0">
              <a:buNone/>
            </a:pPr>
            <a:r>
              <a:rPr lang="zh-TW" altLang="en-US" dirty="0"/>
              <a:t>建構式名</a:t>
            </a:r>
            <a:r>
              <a:rPr lang="en-US" altLang="zh-TW" dirty="0"/>
              <a:t>([</a:t>
            </a:r>
            <a:r>
              <a:rPr lang="zh-TW" altLang="en-US" dirty="0"/>
              <a:t>參數引數</a:t>
            </a:r>
            <a:r>
              <a:rPr lang="en-US" altLang="zh-TW" dirty="0"/>
              <a:t>])</a:t>
            </a:r>
          </a:p>
          <a:p>
            <a:pPr lvl="1" indent="0">
              <a:buNone/>
            </a:pPr>
            <a:r>
              <a:rPr lang="en-US" altLang="zh-TW" dirty="0"/>
              <a:t>{</a:t>
            </a:r>
          </a:p>
          <a:p>
            <a:pPr lvl="2" indent="0">
              <a:buNone/>
            </a:pPr>
            <a:r>
              <a:rPr lang="zh-TW" altLang="en-US" dirty="0"/>
              <a:t>程式步驟</a:t>
            </a:r>
            <a:r>
              <a:rPr lang="en-US" altLang="zh-TW" dirty="0"/>
              <a:t>…..</a:t>
            </a:r>
          </a:p>
          <a:p>
            <a:pPr lvl="1" indent="0">
              <a:buNone/>
            </a:pPr>
            <a:r>
              <a:rPr lang="en-US" altLang="zh-TW" dirty="0"/>
              <a:t>}</a:t>
            </a:r>
          </a:p>
          <a:p>
            <a:pPr marL="342900" indent="-342900"/>
            <a:r>
              <a:rPr lang="zh-TW" altLang="en-US" b="1" dirty="0">
                <a:solidFill>
                  <a:srgbClr val="FFFF00"/>
                </a:solidFill>
              </a:rPr>
              <a:t>建構式名要跟定義宣告的</a:t>
            </a:r>
            <a:r>
              <a:rPr lang="en-US" altLang="zh-TW" b="1" dirty="0">
                <a:solidFill>
                  <a:srgbClr val="FFFF00"/>
                </a:solidFill>
              </a:rPr>
              <a:t>class</a:t>
            </a:r>
            <a:r>
              <a:rPr lang="zh-TW" altLang="en-US" b="1" dirty="0">
                <a:solidFill>
                  <a:srgbClr val="FFFF00"/>
                </a:solidFill>
              </a:rPr>
              <a:t>名稱一定要一樣</a:t>
            </a:r>
            <a:endParaRPr lang="en-US" altLang="zh-TW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38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19536" y="476672"/>
            <a:ext cx="6563072" cy="1371600"/>
          </a:xfrm>
        </p:spPr>
        <p:txBody>
          <a:bodyPr/>
          <a:lstStyle/>
          <a:p>
            <a:pPr marL="342900" indent="-342900"/>
            <a:r>
              <a:rPr lang="en-US" altLang="zh-TW" dirty="0"/>
              <a:t>Constructors</a:t>
            </a:r>
            <a:r>
              <a:rPr lang="zh-TW" altLang="en-US" dirty="0"/>
              <a:t>建構式</a:t>
            </a:r>
            <a:r>
              <a:rPr lang="en-US" altLang="zh-TW" dirty="0"/>
              <a:t>-2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zh-TW" altLang="en-US" dirty="0"/>
              <a:t>變數的生命週期</a:t>
            </a:r>
            <a:endParaRPr lang="en-US" altLang="zh-TW" dirty="0"/>
          </a:p>
          <a:p>
            <a:pPr marL="800100" lvl="1" indent="-342900"/>
            <a:r>
              <a:rPr lang="en-US" altLang="zh-TW" dirty="0"/>
              <a:t>Local-&gt;</a:t>
            </a:r>
            <a:r>
              <a:rPr lang="zh-TW" altLang="en-US" dirty="0"/>
              <a:t>區域</a:t>
            </a:r>
            <a:endParaRPr lang="en-US" altLang="zh-TW" dirty="0"/>
          </a:p>
          <a:p>
            <a:pPr marL="800100" lvl="1" indent="-342900"/>
            <a:r>
              <a:rPr lang="en-US" altLang="zh-TW" dirty="0"/>
              <a:t>Global-&gt;</a:t>
            </a:r>
            <a:r>
              <a:rPr lang="zh-TW" altLang="en-US" dirty="0"/>
              <a:t>全區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物件類變數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en-US" altLang="zh-TW" dirty="0">
                <a:solidFill>
                  <a:srgbClr val="FFFF00"/>
                </a:solidFill>
                <a:sym typeface="Wingdings" pitchFamily="2" charset="2"/>
              </a:rPr>
              <a:t>this.</a:t>
            </a:r>
            <a:r>
              <a:rPr lang="zh-TW" altLang="en-US" dirty="0">
                <a:sym typeface="Wingdings" pitchFamily="2" charset="2"/>
              </a:rPr>
              <a:t>物件變數</a:t>
            </a:r>
            <a:endParaRPr lang="zh-TW" altLang="en-US" dirty="0"/>
          </a:p>
          <a:p>
            <a:pPr marL="342900" indent="-342900"/>
            <a:r>
              <a:rPr lang="en-US" altLang="zh-TW" dirty="0"/>
              <a:t>Overload</a:t>
            </a:r>
            <a:r>
              <a:rPr lang="zh-TW" altLang="en-US" dirty="0"/>
              <a:t>多載化</a:t>
            </a:r>
            <a:r>
              <a:rPr lang="en-US" altLang="zh-TW" dirty="0"/>
              <a:t>(</a:t>
            </a:r>
            <a:r>
              <a:rPr lang="zh-TW" altLang="en-US" dirty="0"/>
              <a:t>多種狀況</a:t>
            </a:r>
            <a:r>
              <a:rPr lang="en-US" altLang="zh-TW" dirty="0"/>
              <a:t>)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olidFill>
                  <a:srgbClr val="FFFF00"/>
                </a:solidFill>
                <a:sym typeface="Wingdings" pitchFamily="2" charset="2"/>
              </a:rPr>
              <a:t>使用時為單選</a:t>
            </a:r>
            <a:endParaRPr lang="en-US" altLang="zh-TW" dirty="0">
              <a:solidFill>
                <a:srgbClr val="FFFF00"/>
              </a:solidFill>
            </a:endParaRPr>
          </a:p>
          <a:p>
            <a:pPr marL="800100" lvl="1" indent="-342900"/>
            <a:r>
              <a:rPr lang="zh-TW" altLang="en-US" dirty="0"/>
              <a:t>名稱一樣</a:t>
            </a:r>
            <a:endParaRPr lang="en-US" altLang="zh-TW" dirty="0"/>
          </a:p>
          <a:p>
            <a:pPr marL="800100" lvl="1" indent="-342900"/>
            <a:r>
              <a:rPr lang="zh-TW" altLang="en-US" dirty="0"/>
              <a:t>參數引數的數量或類型不一樣</a:t>
            </a:r>
          </a:p>
        </p:txBody>
      </p:sp>
    </p:spTree>
    <p:extLst>
      <p:ext uri="{BB962C8B-B14F-4D97-AF65-F5344CB8AC3E}">
        <p14:creationId xmlns:p14="http://schemas.microsoft.com/office/powerpoint/2010/main" val="1874415796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118</TotalTime>
  <Words>435</Words>
  <Application>Microsoft Office PowerPoint</Application>
  <PresentationFormat>寬螢幕</PresentationFormat>
  <Paragraphs>97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</vt:lpstr>
      <vt:lpstr>柏林</vt:lpstr>
      <vt:lpstr>Java SE Developer 1z0-819</vt:lpstr>
      <vt:lpstr>課程內容</vt:lpstr>
      <vt:lpstr>如何執行java應用程式?</vt:lpstr>
      <vt:lpstr>物件導向 Object Oriented Programming</vt:lpstr>
      <vt:lpstr>範例:學員成績單</vt:lpstr>
      <vt:lpstr>物件導向應用</vt:lpstr>
      <vt:lpstr>new執行的步驟過程</vt:lpstr>
      <vt:lpstr>Constructors建構式-1</vt:lpstr>
      <vt:lpstr>Constructors建構式-2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allen chan</cp:lastModifiedBy>
  <cp:revision>3</cp:revision>
  <dcterms:created xsi:type="dcterms:W3CDTF">2024-12-19T03:59:11Z</dcterms:created>
  <dcterms:modified xsi:type="dcterms:W3CDTF">2024-12-19T05:57:55Z</dcterms:modified>
</cp:coreProperties>
</file>